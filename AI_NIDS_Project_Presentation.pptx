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presentation of the AI-Based Network Intrusion Detection System (AI-NIDS).</a:t>
            </a:r>
          </a:p>
          <a:p>
            <a:r>
              <a:t>This project is an enterprise-grade cybersecurity platform that leverages supervised Machine Learning trained on the NSL-KDD benchmark dataset. It provides real-time traffic analysis, interactive SOC alert triage, and granular security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we contrast traditional legacy NIDS with our AI-NIDS platform.</a:t>
            </a:r>
          </a:p>
          <a:p>
            <a:r>
              <a:t>Legacy systems suffer from static rules, high false-positive rates, and slow response times.</a:t>
            </a:r>
          </a:p>
          <a:p>
            <a:r>
              <a:t>Our AI-NIDS solution introduces machine learning trained on network flow patterns, providing high precision (96.68%), real-time WebSocket streaming, and automated alert scoring for SOC analysts.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is modularly separated into three tiers:</a:t>
            </a:r>
          </a:p>
          <a:p>
            <a:r>
              <a:t>1. React 18 TypeScript frontend providing an interactive SOC security dashboard with Recharts visualizer.</a:t>
            </a:r>
          </a:p>
          <a:p>
            <a:r>
              <a:t>2. FastAPI Python backend running Uvicorn ASGI, serving REST APIs and low-latency WebSockets.</a:t>
            </a:r>
          </a:p>
          <a:p>
            <a:r>
              <a:t>3. Scikit-learn inference pipeline using joblib artifacts backed by SQLite or PostgreSQL.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utilize the official NSL-KDD benchmark dataset, which addresses the duplication issues of raw KDD Cup 99.</a:t>
            </a:r>
          </a:p>
          <a:p>
            <a:r>
              <a:t>Our pipeline extracts 20 top discriminative features from 41 raw attributes, covering packet sizes, connection counts, error rates (serror_rate), and host service 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implemented and evaluated two supervised classification algorithms:</a:t>
            </a:r>
          </a:p>
          <a:p>
            <a:r>
              <a:t>1. Random Forest Classifier: An ensemble model providing superior accuracy and high precision by combining decision trees.</a:t>
            </a:r>
          </a:p>
          <a:p>
            <a:r>
              <a:t>2. Decision Tree Classifier: A fast baseline model useful for rapid rule verification and low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are the test results evaluated on 22,544 official NSL-KDD test samples.</a:t>
            </a:r>
          </a:p>
          <a:p>
            <a:r>
              <a:t>Random Forest achieved 78.00% accuracy and an impressive 96.68% precision.</a:t>
            </a:r>
          </a:p>
          <a:p>
            <a:r>
              <a:t>High precision is vital in cybersecurity because false positives ruin SOC productivity.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real-time streaming engine uses WebSockets (/ws) managed asynchronously by FastAPI.</a:t>
            </a:r>
          </a:p>
          <a:p>
            <a:r>
              <a:t>It supports dual adapters: a Demo Traffic Adapter generating continuous streams with controllable attack ratios, and a Packet Capture Adapter stub. Live packets receive immediate confidence scoring and severity tagging.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Interactive Detection Test Bench lets security researchers test custom traffic vectors.</a:t>
            </a:r>
          </a:p>
          <a:p>
            <a:r>
              <a:t>It includes one-click attack presets like DoS SYN Flood, Port Sweep Probe, and Normal HTTP traffic, allowing immediate verification of model feature responses.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operations require strict governance. AI-NIDS features alert lifecycle management and granular Role-Based Access Control (RBAC) backed by JWT tokens and audit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project is production-ready with Docker containerization and automated Pytest test suites, ensuring easy deployment across cloud or on-premise environments.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maintain transparency regarding current technical limits and outline a strategic roadmap including Deep Learning LSTM models, Unsupervised Autoencoders for zero-day threats, and automated firewall hooks.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attending this presentation on AI-NIDS.</a:t>
            </a:r>
          </a:p>
          <a:p>
            <a:r>
              <a:t>We are now open for questions and technical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8FAFC"/>
                </a:solidFill>
                <a:latin typeface="Calibri"/>
              </a:defRPr>
            </a:pPr>
            <a:r>
              <a:t>AI-BASED NETWORK INTRUSION DETECTION SYSTEM</a:t>
            </a:r>
          </a:p>
          <a:p>
            <a:pPr>
              <a:spcBef>
                <a:spcPts val="1500"/>
              </a:spcBef>
              <a:defRPr sz="2000">
                <a:solidFill>
                  <a:srgbClr val="38BDF8"/>
                </a:solidFill>
                <a:latin typeface="Calibri"/>
              </a:defRPr>
            </a:pPr>
            <a:r>
              <a:t>Production-Grade AI-NIDS Platform Powered by Machine Learning &amp; Real-Time Analytics</a:t>
            </a:r>
          </a:p>
          <a:p>
            <a:pPr>
              <a:spcBef>
                <a:spcPts val="2500"/>
              </a:spcBef>
              <a:defRPr sz="1400">
                <a:solidFill>
                  <a:srgbClr val="94A3B8"/>
                </a:solidFill>
                <a:latin typeface="Calibri"/>
              </a:defRPr>
            </a:pPr>
            <a:r>
              <a:t>Trained on NSL-KDD Benchmark Dataset • Sub-Second Verdict Stream • Automated SOC Alert Management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846320"/>
            <a:ext cx="987552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4983480"/>
            <a:ext cx="95097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ARCHITECTURE &amp; IMPLEMENTATION OVERVIEW</a:t>
            </a:r>
          </a:p>
          <a:p>
            <a:pPr>
              <a:spcBef>
                <a:spcPts val="500"/>
              </a:spcBef>
              <a:defRPr sz="1300">
                <a:solidFill>
                  <a:srgbClr val="F8FAFC"/>
                </a:solidFill>
              </a:defRPr>
            </a:pPr>
            <a:r>
              <a:t>Tech Stack: React 18 + TypeScript | FastAPI + SQLAlchemy | Scikit-Learn | WebSockets | Docker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EXECUTIVE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Problem Statement &amp; Strategic AI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Calibri"/>
              </a:defRPr>
            </a:pPr>
            <a:r>
              <a:t>Traditional NIDS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EF4444"/>
                </a:solidFill>
              </a:rPr>
              <a:t>• Static Rule-Based Detection: </a:t>
            </a:r>
            <a:r>
              <a:rPr sz="1300">
                <a:solidFill>
                  <a:srgbClr val="94A3B8"/>
                </a:solidFill>
              </a:rPr>
              <a:t>Legacy tools rely on rigid signatures that fail against mutated attack vectors.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EF4444"/>
                </a:solidFill>
              </a:rPr>
              <a:t>• High Alarm Fatigue: </a:t>
            </a:r>
            <a:r>
              <a:rPr sz="1300">
                <a:solidFill>
                  <a:srgbClr val="94A3B8"/>
                </a:solidFill>
              </a:rPr>
              <a:t>Security operations centers (SOCs) are overwhelmed by thousands of false-positive alerts daily.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EF4444"/>
                </a:solidFill>
              </a:rPr>
              <a:t>• Bandwidth Bottlenecks: </a:t>
            </a:r>
            <a:r>
              <a:rPr sz="1300">
                <a:solidFill>
                  <a:srgbClr val="94A3B8"/>
                </a:solidFill>
              </a:rPr>
              <a:t>Manual log inspection cannot scale with gigabit throughput modern corporate networks.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EF4444"/>
                </a:solidFill>
              </a:rPr>
              <a:t>• Slow Incident Response: </a:t>
            </a:r>
            <a:r>
              <a:rPr sz="1300">
                <a:solidFill>
                  <a:srgbClr val="94A3B8"/>
                </a:solidFill>
              </a:rPr>
              <a:t>Lack of real-time streaming verdict engines delays threat containment by hours or days.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Calibri"/>
              </a:defRPr>
            </a:pPr>
            <a:r>
              <a:t>AI-NIDS Intelligent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✔ Machine Learning Driven: </a:t>
            </a:r>
            <a:r>
              <a:rPr sz="1300">
                <a:solidFill>
                  <a:srgbClr val="94A3B8"/>
                </a:solidFill>
              </a:rPr>
              <a:t>Classifies network traffic using Random Forest &amp; Decision Tree models with 78% test accuracy.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✔ High-Precision Attack Verdicts: </a:t>
            </a:r>
            <a:r>
              <a:rPr sz="1300">
                <a:solidFill>
                  <a:srgbClr val="94A3B8"/>
                </a:solidFill>
              </a:rPr>
              <a:t>Achieves 96.68% precision on attack traffic to drastically minimize false positives.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✔ Real-Time Streaming SOC Dashboard: </a:t>
            </a:r>
            <a:r>
              <a:rPr sz="1300">
                <a:solidFill>
                  <a:srgbClr val="94A3B8"/>
                </a:solidFill>
              </a:rPr>
              <a:t>Sub-second threat verdicts delivered via low-latency WebSocket connections.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✔ Full Alert Lifecycle Management: </a:t>
            </a:r>
            <a:r>
              <a:rPr sz="1300">
                <a:solidFill>
                  <a:srgbClr val="94A3B8"/>
                </a:solidFill>
              </a:rPr>
              <a:t>Automated severity scoring (CRITICAL, HIGH, MEDIUM) with role-based analyst workflows.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End-to-End Full-Stack System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Calibri"/>
              </a:defRPr>
            </a:pPr>
            <a:r>
              <a:t>1. React SOC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38BDF8"/>
                </a:solidFill>
              </a:rPr>
              <a:t>Framework: </a:t>
            </a:r>
            <a:r>
              <a:rPr sz="1200">
                <a:solidFill>
                  <a:srgbClr val="94A3B8"/>
                </a:solidFill>
              </a:rPr>
              <a:t>React 18 + TypeScript + Vite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38BDF8"/>
                </a:solidFill>
              </a:rPr>
              <a:t>Styling: </a:t>
            </a:r>
            <a:r>
              <a:rPr sz="1200">
                <a:solidFill>
                  <a:srgbClr val="94A3B8"/>
                </a:solidFill>
              </a:rPr>
              <a:t>Tailwind CSS + Glassmorphism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38BDF8"/>
                </a:solidFill>
              </a:rPr>
              <a:t>Data Visualization: </a:t>
            </a:r>
            <a:r>
              <a:rPr sz="1200">
                <a:solidFill>
                  <a:srgbClr val="94A3B8"/>
                </a:solidFill>
              </a:rPr>
              <a:t>Recharts charts &amp; confusion matrix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38BDF8"/>
                </a:solidFill>
              </a:rPr>
              <a:t>Live Updates: </a:t>
            </a:r>
            <a:r>
              <a:rPr sz="1200">
                <a:solidFill>
                  <a:srgbClr val="94A3B8"/>
                </a:solidFill>
              </a:rPr>
              <a:t>Native WebSocket client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38BDF8"/>
                </a:solidFill>
              </a:rPr>
              <a:t>State &amp; Routing: </a:t>
            </a:r>
            <a:r>
              <a:rPr sz="1200">
                <a:solidFill>
                  <a:srgbClr val="94A3B8"/>
                </a:solidFill>
              </a:rPr>
              <a:t>React Router v6 + Axios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Calibri"/>
              </a:defRPr>
            </a:pPr>
            <a:r>
              <a:t>2. FastAPI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10B981"/>
                </a:solidFill>
              </a:rPr>
              <a:t>REST Engine: </a:t>
            </a:r>
            <a:r>
              <a:rPr sz="1200">
                <a:solidFill>
                  <a:srgbClr val="94A3B8"/>
                </a:solidFill>
              </a:rPr>
              <a:t>FastAPI + Pydantic v2 schemas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0B981"/>
                </a:solidFill>
              </a:rPr>
              <a:t>Real-time Stream: </a:t>
            </a:r>
            <a:r>
              <a:rPr sz="1200">
                <a:solidFill>
                  <a:srgbClr val="94A3B8"/>
                </a:solidFill>
              </a:rPr>
              <a:t>Async WebSocket Manager (`/ws`)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0B981"/>
                </a:solidFill>
              </a:rPr>
              <a:t>ML Inference Engine: </a:t>
            </a:r>
            <a:r>
              <a:rPr sz="1200">
                <a:solidFill>
                  <a:srgbClr val="94A3B8"/>
                </a:solidFill>
              </a:rPr>
              <a:t>Scikit-Learn Joblib Model Pipeline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0B981"/>
                </a:solidFill>
              </a:rPr>
              <a:t>Traffic Adapters: </a:t>
            </a:r>
            <a:r>
              <a:rPr sz="1200">
                <a:solidFill>
                  <a:srgbClr val="94A3B8"/>
                </a:solidFill>
              </a:rPr>
              <a:t>Demo Stream &amp; Scapy PCAP stub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0B981"/>
                </a:solidFill>
              </a:rPr>
              <a:t>Security: </a:t>
            </a:r>
            <a:r>
              <a:rPr sz="1200">
                <a:solidFill>
                  <a:srgbClr val="94A3B8"/>
                </a:solidFill>
              </a:rPr>
              <a:t>OAuth2 + JWT Bearer Tokens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00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Calibri"/>
              </a:defRPr>
            </a:pPr>
            <a:r>
              <a:t>3. Persistence &amp;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F59E0B"/>
                </a:solidFill>
              </a:rPr>
              <a:t>ORM Layer: </a:t>
            </a:r>
            <a:r>
              <a:rPr sz="1200">
                <a:solidFill>
                  <a:srgbClr val="94A3B8"/>
                </a:solidFill>
              </a:rPr>
              <a:t>SQLAlchemy with Session management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F59E0B"/>
                </a:solidFill>
              </a:rPr>
              <a:t>Storage Engine: </a:t>
            </a:r>
            <a:r>
              <a:rPr sz="1200">
                <a:solidFill>
                  <a:srgbClr val="94A3B8"/>
                </a:solidFill>
              </a:rPr>
              <a:t>SQLite (dev) / PostgreSQL (prod)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F59E0B"/>
                </a:solidFill>
              </a:rPr>
              <a:t>Model Artifacts: </a:t>
            </a:r>
            <a:r>
              <a:rPr sz="1200">
                <a:solidFill>
                  <a:srgbClr val="94A3B8"/>
                </a:solidFill>
              </a:rPr>
              <a:t>Serialized Joblib binary `.pkl` files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F59E0B"/>
                </a:solidFill>
              </a:rPr>
              <a:t>Audit Logs: </a:t>
            </a:r>
            <a:r>
              <a:rPr sz="1200">
                <a:solidFill>
                  <a:srgbClr val="94A3B8"/>
                </a:solidFill>
              </a:rPr>
              <a:t>Persisted DB user activity records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F59E0B"/>
                </a:solidFill>
              </a:rPr>
              <a:t>Container Stack: </a:t>
            </a:r>
            <a:r>
              <a:rPr sz="1200">
                <a:solidFill>
                  <a:srgbClr val="94A3B8"/>
                </a:solidFill>
              </a:rPr>
              <a:t>Docker Compose containerization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NSL-KDD Benchmark Dataset &amp; Feature Selection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Calibri"/>
              </a:defRPr>
            </a:pPr>
            <a:r>
              <a:t>NSL-KDD Dataset Characteristics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• Standardized Benchmark: </a:t>
            </a:r>
            <a:r>
              <a:rPr sz="1300">
                <a:solidFill>
                  <a:srgbClr val="94A3B8"/>
                </a:solidFill>
              </a:rPr>
              <a:t>Solves legacy KDD'99 redundant records issue, ensuring unbiased training &amp; evaluation.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• Dataset Volumes: </a:t>
            </a:r>
            <a:r>
              <a:rPr sz="1300">
                <a:solidFill>
                  <a:srgbClr val="94A3B8"/>
                </a:solidFill>
              </a:rPr>
              <a:t>125,973 training samples; 22,544 independent test set samples.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• Multi-Class Diversity: </a:t>
            </a:r>
            <a:r>
              <a:rPr sz="1300">
                <a:solidFill>
                  <a:srgbClr val="94A3B8"/>
                </a:solidFill>
              </a:rPr>
              <a:t>Includes Normal traffic plus 4 attack categories: DoS, Probe, R2L, and U2R.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• Realistic Evaluation: </a:t>
            </a:r>
            <a:r>
              <a:rPr sz="1300">
                <a:solidFill>
                  <a:srgbClr val="94A3B8"/>
                </a:solidFill>
              </a:rPr>
              <a:t>Test dataset contains novel attack sub-variants not present in the training 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Calibri"/>
              </a:defRPr>
            </a:pPr>
            <a:r>
              <a:t>Top 20 Selected Features (Feature Selector)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</a:defRPr>
            </a:pPr>
            <a:r>
              <a:t>20 Discriminative Features Extracted from 41 Raw Attributes:</a:t>
            </a:r>
          </a:p>
          <a:p>
            <a:pPr>
              <a:spcAft>
                <a:spcPts val="400"/>
              </a:spcAft>
              <a:defRPr sz="1200">
                <a:solidFill>
                  <a:srgbClr val="10B981"/>
                </a:solidFill>
              </a:defRPr>
            </a:pPr>
            <a:r>
              <a:t>▸ 1. src_bytes &amp; dst_bytes</a:t>
            </a:r>
          </a:p>
          <a:p>
            <a:pPr>
              <a:spcAft>
                <a:spcPts val="400"/>
              </a:spcAft>
              <a:defRPr sz="1200">
                <a:solidFill>
                  <a:srgbClr val="10B981"/>
                </a:solidFill>
              </a:defRPr>
            </a:pPr>
            <a:r>
              <a:t>▸ 2. protocol_type (TCP/UDP/ICMP)</a:t>
            </a:r>
          </a:p>
          <a:p>
            <a:pPr>
              <a:spcAft>
                <a:spcPts val="400"/>
              </a:spcAft>
              <a:defRPr sz="1200">
                <a:solidFill>
                  <a:srgbClr val="10B981"/>
                </a:solidFill>
              </a:defRPr>
            </a:pPr>
            <a:r>
              <a:t>▸ 3. service &amp; flag</a:t>
            </a:r>
          </a:p>
          <a:p>
            <a:pPr>
              <a:spcAft>
                <a:spcPts val="400"/>
              </a:spcAft>
              <a:defRPr sz="1200">
                <a:solidFill>
                  <a:srgbClr val="10B981"/>
                </a:solidFill>
              </a:defRPr>
            </a:pPr>
            <a:r>
              <a:t>▸ 4. logged_in status</a:t>
            </a:r>
          </a:p>
          <a:p>
            <a:pPr>
              <a:spcAft>
                <a:spcPts val="400"/>
              </a:spcAft>
              <a:defRPr sz="1200">
                <a:solidFill>
                  <a:srgbClr val="10B981"/>
                </a:solidFill>
              </a:defRPr>
            </a:pPr>
            <a:r>
              <a:t>▸ 5. count &amp; srv_count</a:t>
            </a:r>
          </a:p>
          <a:p>
            <a:pPr>
              <a:spcAft>
                <a:spcPts val="400"/>
              </a:spcAft>
              <a:defRPr sz="1200">
                <a:solidFill>
                  <a:srgbClr val="10B981"/>
                </a:solidFill>
              </a:defRPr>
            </a:pPr>
            <a:r>
              <a:t>▸ 6. serror_rate &amp; srv_serror_rate</a:t>
            </a:r>
          </a:p>
          <a:p>
            <a:pPr>
              <a:spcAft>
                <a:spcPts val="400"/>
              </a:spcAft>
              <a:defRPr sz="1200">
                <a:solidFill>
                  <a:srgbClr val="10B981"/>
                </a:solidFill>
              </a:defRPr>
            </a:pPr>
            <a:r>
              <a:t>▸ 7. same_srv_rate &amp; diff_srv_rate</a:t>
            </a:r>
          </a:p>
          <a:p>
            <a:pPr>
              <a:spcAft>
                <a:spcPts val="400"/>
              </a:spcAft>
              <a:defRPr sz="1200">
                <a:solidFill>
                  <a:srgbClr val="10B981"/>
                </a:solidFill>
              </a:defRPr>
            </a:pPr>
            <a:r>
              <a:t>▸ 8. dst_host_count &amp; dst_host_srv_count</a:t>
            </a:r>
          </a:p>
          <a:p>
            <a:pPr>
              <a:spcAft>
                <a:spcPts val="400"/>
              </a:spcAft>
              <a:defRPr sz="1200">
                <a:solidFill>
                  <a:srgbClr val="10B981"/>
                </a:solidFill>
              </a:defRPr>
            </a:pPr>
            <a:r>
              <a:t>▸ 9. dst_host_same_srv_rate</a:t>
            </a:r>
          </a:p>
          <a:p>
            <a:pPr>
              <a:spcAft>
                <a:spcPts val="400"/>
              </a:spcAft>
              <a:defRPr sz="1200">
                <a:solidFill>
                  <a:srgbClr val="10B981"/>
                </a:solidFill>
              </a:defRPr>
            </a:pPr>
            <a:r>
              <a:t>▸ 10. dst_host_diff_srv_rate</a:t>
            </a:r>
          </a:p>
          <a:p>
            <a:pPr>
              <a:spcAft>
                <a:spcPts val="400"/>
              </a:spcAft>
              <a:defRPr sz="1200">
                <a:solidFill>
                  <a:srgbClr val="10B981"/>
                </a:solidFill>
              </a:defRPr>
            </a:pPr>
            <a:r>
              <a:t>▸ 11. dst_host_srv_diff_host_rate</a:t>
            </a:r>
          </a:p>
          <a:p>
            <a:pPr>
              <a:spcAft>
                <a:spcPts val="400"/>
              </a:spcAft>
              <a:defRPr sz="1200">
                <a:solidFill>
                  <a:srgbClr val="10B981"/>
                </a:solidFill>
              </a:defRPr>
            </a:pPr>
            <a:r>
              <a:t>▸ 12. dst_host_serror_rate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Model Selection &amp; Offline Training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Calibri"/>
              </a:defRPr>
            </a:pPr>
            <a:r>
              <a:t>Random Forest Classifier (Primary)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• Ensemble Strategy: </a:t>
            </a:r>
            <a:r>
              <a:rPr sz="1300">
                <a:solidFill>
                  <a:srgbClr val="94A3B8"/>
                </a:solidFill>
              </a:rPr>
              <a:t>Combines multiple decision trees via bootstrap aggregation (bagging).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• Overfitting Resilience: </a:t>
            </a:r>
            <a:r>
              <a:rPr sz="1300">
                <a:solidFill>
                  <a:srgbClr val="94A3B8"/>
                </a:solidFill>
              </a:rPr>
              <a:t>Sub-samples feature spaces to maintain generalization on unseen test traffic.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• Feature Importance: </a:t>
            </a:r>
            <a:r>
              <a:rPr sz="1300">
                <a:solidFill>
                  <a:srgbClr val="94A3B8"/>
                </a:solidFill>
              </a:rPr>
              <a:t>Generates Gini impurity reduction scores to rank connection indicators.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• Status: </a:t>
            </a:r>
            <a:r>
              <a:rPr sz="1300">
                <a:solidFill>
                  <a:srgbClr val="94A3B8"/>
                </a:solidFill>
              </a:rPr>
              <a:t>SELECTED AS BEST MODEL (Highest overall accuracy &amp; precision).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Calibri"/>
              </a:defRPr>
            </a:pPr>
            <a:r>
              <a:t>Decision Tree Classifier (Baseline)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• Single Tree Architecture: </a:t>
            </a:r>
            <a:r>
              <a:rPr sz="1300">
                <a:solidFill>
                  <a:srgbClr val="94A3B8"/>
                </a:solidFill>
              </a:rPr>
              <a:t>Executes recursive binary splitting based on entropy &amp; information gain.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• Ultra-Fast Inference: </a:t>
            </a:r>
            <a:r>
              <a:rPr sz="1300">
                <a:solidFill>
                  <a:srgbClr val="94A3B8"/>
                </a:solidFill>
              </a:rPr>
              <a:t>Low computational overhead with sub-millisecond execution times.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• Interpretability: </a:t>
            </a:r>
            <a:r>
              <a:rPr sz="1300">
                <a:solidFill>
                  <a:srgbClr val="94A3B8"/>
                </a:solidFill>
              </a:rPr>
              <a:t>Rule paths can be audited directly by cybersecurity analysts.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• Status: </a:t>
            </a:r>
            <a:r>
              <a:rPr sz="1300">
                <a:solidFill>
                  <a:srgbClr val="94A3B8"/>
                </a:solidFill>
              </a:rPr>
              <a:t>Evaluated as baseline comparison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PERFORMANCE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Empirical Model Evaluation on NSL-KDD Test Set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38BDF8"/>
                          </a:solidFill>
                        </a:defRPr>
                      </a:pPr>
                      <a:r>
                        <a:t>Model Classifier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38BDF8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38BDF8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38BDF8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38BDF8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38BDF8"/>
                          </a:solidFill>
                        </a:defRPr>
                      </a:pPr>
                      <a:r>
                        <a:t>Production 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0F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78.00%</a:t>
                      </a:r>
                    </a:p>
                  </a:txBody>
                  <a:tcPr>
                    <a:solidFill>
                      <a:srgbClr val="0F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96.68%</a:t>
                      </a:r>
                    </a:p>
                  </a:txBody>
                  <a:tcPr>
                    <a:solidFill>
                      <a:srgbClr val="0F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63.53%</a:t>
                      </a:r>
                    </a:p>
                  </a:txBody>
                  <a:tcPr>
                    <a:solidFill>
                      <a:srgbClr val="0F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8FAFC"/>
                          </a:solidFill>
                        </a:defRPr>
                      </a:pPr>
                      <a:r>
                        <a:t>76.68%</a:t>
                      </a:r>
                    </a:p>
                  </a:txBody>
                  <a:tcPr>
                    <a:solidFill>
                      <a:srgbClr val="0F2D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</a:defRPr>
                      </a:pPr>
                      <a:r>
                        <a:t>SELECTED BEST</a:t>
                      </a:r>
                    </a:p>
                  </a:txBody>
                  <a:tcPr>
                    <a:solidFill>
                      <a:srgbClr val="0F2D4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8FAFC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8FAFC"/>
                          </a:solidFill>
                        </a:defRPr>
                      </a:pPr>
                      <a:r>
                        <a:t>75.96%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8FAFC"/>
                          </a:solidFill>
                        </a:defRPr>
                      </a:pPr>
                      <a:r>
                        <a:t>96.13%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8FAFC"/>
                          </a:solidFill>
                        </a:defRPr>
                      </a:pPr>
                      <a:r>
                        <a:t>60.19%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8FAFC"/>
                          </a:solidFill>
                        </a:defRPr>
                      </a:pPr>
                      <a:r>
                        <a:t>74.03%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8FAFC"/>
                          </a:solidFill>
                        </a:defRPr>
                      </a:pPr>
                      <a:r>
                        <a:t>Evaluated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3566160"/>
            <a:ext cx="10698480" cy="26517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Calibri"/>
              </a:defRPr>
            </a:pPr>
            <a:r>
              <a:t>Key Performance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300">
                <a:solidFill>
                  <a:srgbClr val="38BDF8"/>
                </a:solidFill>
              </a:rPr>
              <a:t>▸ High Attack Precision (96.68%): </a:t>
            </a:r>
            <a:r>
              <a:rPr sz="1300">
                <a:solidFill>
                  <a:srgbClr val="94A3B8"/>
                </a:solidFill>
              </a:rPr>
              <a:t>Crucial for enterprise SOCs—when AI-NIDS flags an attack, it is nearly 97% accurate, eliminating false alarm noise.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38BDF8"/>
                </a:solidFill>
              </a:rPr>
              <a:t>▸ Test Set Challenge: </a:t>
            </a:r>
            <a:r>
              <a:rPr sz="1300">
                <a:solidFill>
                  <a:srgbClr val="94A3B8"/>
                </a:solidFill>
              </a:rPr>
              <a:t>Evaluated on 22,544 test samples containing unknown attack variants; Random Forest demonstrated strong generalization.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38BDF8"/>
                </a:solidFill>
              </a:rPr>
              <a:t>▸ Balanced Trade-off: </a:t>
            </a:r>
            <a:r>
              <a:rPr sz="1300">
                <a:solidFill>
                  <a:srgbClr val="94A3B8"/>
                </a:solidFill>
              </a:rPr>
              <a:t>Random Forest outperforms Decision Tree across all metrics (+2.04% Accuracy, +3.34% Recall, +2.65% F1-Score).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REAL-TIME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Live Streaming Architecture via WebSockets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Calibri"/>
              </a:defRPr>
            </a:pPr>
            <a:r>
              <a:t>WebSocket Streaming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• Full-Duplex Endpoint (`/ws`): </a:t>
            </a:r>
            <a:r>
              <a:rPr sz="1300">
                <a:solidFill>
                  <a:srgbClr val="94A3B8"/>
                </a:solidFill>
              </a:rPr>
              <a:t>Persistent connection broadcasting JSON event frames every 2 seconds.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• Asynchronous Connection Manager: </a:t>
            </a:r>
            <a:r>
              <a:rPr sz="1300">
                <a:solidFill>
                  <a:srgbClr val="94A3B8"/>
                </a:solidFill>
              </a:rPr>
              <a:t>Manages client sockets concurrently without blocking server event loops.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• Automatic Record Persistence: </a:t>
            </a:r>
            <a:r>
              <a:rPr sz="1300">
                <a:solidFill>
                  <a:srgbClr val="94A3B8"/>
                </a:solidFill>
              </a:rPr>
              <a:t>Each stream packet is logged to DB with ML verdict and confidence scores.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• Low-Latency Telemetry: </a:t>
            </a:r>
            <a:r>
              <a:rPr sz="1300">
                <a:solidFill>
                  <a:srgbClr val="94A3B8"/>
                </a:solidFill>
              </a:rPr>
              <a:t>Pushes live traffic metrics straight to Recharts frontend visualizers.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Calibri"/>
              </a:defRPr>
            </a:pPr>
            <a:r>
              <a:t>Traffic Adapter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</a:rPr>
              <a:t>Demo Traffic Adapter (`DemoTrafficAdapter`): </a:t>
            </a:r>
            <a:r>
              <a:rPr sz="1200">
                <a:solidFill>
                  <a:srgbClr val="94A3B8"/>
                </a:solidFill>
              </a:rPr>
              <a:t>Generates realistic network packets with configurable attack ratio (default 30-35%).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</a:rPr>
              <a:t>Live Packet Adapter Stub (`PacketCaptureAdapter`): </a:t>
            </a:r>
            <a:r>
              <a:rPr sz="1200">
                <a:solidFill>
                  <a:srgbClr val="94A3B8"/>
                </a:solidFill>
              </a:rPr>
              <a:t>Scapy integration harness for sniffing real network interface hardware.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</a:rPr>
              <a:t>Severity Categorization: </a:t>
            </a:r>
            <a:r>
              <a:rPr sz="1200">
                <a:solidFill>
                  <a:srgbClr val="94A3B8"/>
                </a:solidFill>
              </a:rPr>
              <a:t>Automatic severity scoring based on attack verdict confidence: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</a:rPr>
              <a:t>  - Confidence ≥ 90%: </a:t>
            </a:r>
            <a:r>
              <a:rPr sz="1200">
                <a:solidFill>
                  <a:srgbClr val="94A3B8"/>
                </a:solidFill>
              </a:rPr>
              <a:t>CRITICAL Severity (Red Alert)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</a:rPr>
              <a:t>  - Confidence ≥ 80%: </a:t>
            </a:r>
            <a:r>
              <a:rPr sz="1200">
                <a:solidFill>
                  <a:srgbClr val="94A3B8"/>
                </a:solidFill>
              </a:rPr>
              <a:t>HIGH Severity (Amber Alert)</a:t>
            </a:r>
          </a:p>
          <a:p>
            <a:pPr>
              <a:spcAft>
                <a:spcPts val="800"/>
              </a:spcAft>
            </a:pPr>
            <a:r>
              <a:rPr b="1" sz="1200">
                <a:solidFill>
                  <a:srgbClr val="38BDF8"/>
                </a:solidFill>
              </a:rPr>
              <a:t>  - Confidence &lt; 80%: </a:t>
            </a:r>
            <a:r>
              <a:rPr sz="1200">
                <a:solidFill>
                  <a:srgbClr val="94A3B8"/>
                </a:solidFill>
              </a:rPr>
              <a:t>MEDIUM / LOW Severity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ANALYST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Interactive Detection Test Bench &amp; Presets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Calibri"/>
              </a:defRPr>
            </a:pPr>
            <a:r>
              <a:t>Custom Vector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• Manual Vector Inputs: </a:t>
            </a:r>
            <a:r>
              <a:rPr sz="1300">
                <a:solidFill>
                  <a:srgbClr val="94A3B8"/>
                </a:solidFill>
              </a:rPr>
              <a:t>Form bench enabling analysts to enter exact 20-feature parameter sets.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• Immediate Inference: </a:t>
            </a:r>
            <a:r>
              <a:rPr sz="1300">
                <a:solidFill>
                  <a:srgbClr val="94A3B8"/>
                </a:solidFill>
              </a:rPr>
              <a:t>Executes instant REST API prediction call (`/api/v1/detection/predict`).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• Probability Breakdown: </a:t>
            </a:r>
            <a:r>
              <a:rPr sz="1300">
                <a:solidFill>
                  <a:srgbClr val="94A3B8"/>
                </a:solidFill>
              </a:rPr>
              <a:t>Displays probability distribution (e.g. 98.4% ATTACK vs 1.6% NORMAL).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• Model Switching: </a:t>
            </a:r>
            <a:r>
              <a:rPr sz="1300">
                <a:solidFill>
                  <a:srgbClr val="94A3B8"/>
                </a:solidFill>
              </a:rPr>
              <a:t>Allows analysts to toggle between Random Forest and Decision Tree on the fly.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Calibri"/>
              </a:defRPr>
            </a:pPr>
            <a:r>
              <a:t>One-Click Attack Presets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EF4444"/>
                </a:solidFill>
              </a:rPr>
              <a:t>⚡ DoS SYN Flood Attack: </a:t>
            </a:r>
            <a:r>
              <a:rPr sz="1300">
                <a:solidFill>
                  <a:srgbClr val="94A3B8"/>
                </a:solidFill>
              </a:rPr>
              <a:t>High packet count, serror_rate = 1.0, protocol = TCP, same_srv_rate = 1.0.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F59E0B"/>
                </a:solidFill>
              </a:rPr>
              <a:t>🔍 Port Sweep Probe Attack: </a:t>
            </a:r>
            <a:r>
              <a:rPr sz="1300">
                <a:solidFill>
                  <a:srgbClr val="94A3B8"/>
                </a:solidFill>
              </a:rPr>
              <a:t>High diff_srv_rate, low same_srv_rate, multiple distinct destination ports.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0B981"/>
                </a:solidFill>
              </a:rPr>
              <a:t>🌐 Normal HTTP Session: </a:t>
            </a:r>
            <a:r>
              <a:rPr sz="1300">
                <a:solidFill>
                  <a:srgbClr val="94A3B8"/>
                </a:solidFill>
              </a:rPr>
              <a:t>Standard HTTP bytes, logged_in = 1, normal error rates, legitimate traffic profile.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SECURITY &amp;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SOC Alert Triage &amp; Role-Based Access Control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Calibri"/>
              </a:defRPr>
            </a:pPr>
            <a:r>
              <a:t>SOC Alert Lifecycle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• Automated Alert Triggering: </a:t>
            </a:r>
            <a:r>
              <a:rPr sz="1300">
                <a:solidFill>
                  <a:srgbClr val="94A3B8"/>
                </a:solidFill>
              </a:rPr>
              <a:t>Attacks with high confidence instantly create alert tickets in the database.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• Lifecycle Transitions: </a:t>
            </a:r>
            <a:r>
              <a:rPr sz="1300">
                <a:solidFill>
                  <a:srgbClr val="94A3B8"/>
                </a:solidFill>
              </a:rPr>
              <a:t>OPEN ➔ ACKNOWLEDGED ➔ RESOLVED.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• Analyst Workflow: </a:t>
            </a:r>
            <a:r>
              <a:rPr sz="1300">
                <a:solidFill>
                  <a:srgbClr val="94A3B8"/>
                </a:solidFill>
              </a:rPr>
              <a:t>Allows analysts to add investigation notes and assign ownership.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38BDF8"/>
                </a:solidFill>
              </a:rPr>
              <a:t>• Filtering &amp; Search: </a:t>
            </a:r>
            <a:r>
              <a:rPr sz="1300">
                <a:solidFill>
                  <a:srgbClr val="94A3B8"/>
                </a:solidFill>
              </a:rPr>
              <a:t>Filter alerts by severity (`CRITICAL`, `HIGH`), status, and protocol.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Calibri"/>
              </a:defRPr>
            </a:pPr>
            <a:r>
              <a:t>RBAC &amp; Audit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🔑 ADMIN Role: </a:t>
            </a:r>
            <a:r>
              <a:rPr sz="1300">
                <a:solidFill>
                  <a:srgbClr val="94A3B8"/>
                </a:solidFill>
              </a:rPr>
              <a:t>Full operational control, user management, alert resolution, system config.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🔑 ANALYST Role: </a:t>
            </a:r>
            <a:r>
              <a:rPr sz="1300">
                <a:solidFill>
                  <a:srgbClr val="94A3B8"/>
                </a:solidFill>
              </a:rPr>
              <a:t>Live traffic monitoring, manual predictions, alert acknowledgment.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🔑 VIEWER Role: </a:t>
            </a:r>
            <a:r>
              <a:rPr sz="1300">
                <a:solidFill>
                  <a:srgbClr val="94A3B8"/>
                </a:solidFill>
              </a:rPr>
              <a:t>Read-only access to dashboards and metrics.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10B981"/>
                </a:solidFill>
              </a:rPr>
              <a:t>🔑 Audit Logging: </a:t>
            </a:r>
            <a:r>
              <a:rPr sz="1300">
                <a:solidFill>
                  <a:srgbClr val="94A3B8"/>
                </a:solidFill>
              </a:rPr>
              <a:t>Immutable database log recording login attempts, alert updates, and model retrains.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DEVOPS &amp;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Containerization, Deployment &amp; Automated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Calibri"/>
              </a:defRPr>
            </a:pPr>
            <a:r>
              <a:t>Docker Container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300">
                <a:solidFill>
                  <a:srgbClr val="38BDF8"/>
                </a:solidFill>
              </a:rPr>
              <a:t>🐳 Multi-Stage Dockerfile: </a:t>
            </a:r>
            <a:r>
              <a:rPr sz="1300">
                <a:solidFill>
                  <a:srgbClr val="94A3B8"/>
                </a:solidFill>
              </a:rPr>
              <a:t>Optimized container build for FastAPI Python environment.</a:t>
            </a:r>
          </a:p>
          <a:p>
            <a:pPr>
              <a:spcAft>
                <a:spcPts val="1600"/>
              </a:spcAft>
            </a:pPr>
            <a:r>
              <a:rPr b="1" sz="1300">
                <a:solidFill>
                  <a:srgbClr val="38BDF8"/>
                </a:solidFill>
              </a:rPr>
              <a:t>🐳 Docker Compose Orchestration: </a:t>
            </a:r>
            <a:r>
              <a:rPr sz="1300">
                <a:solidFill>
                  <a:srgbClr val="94A3B8"/>
                </a:solidFill>
              </a:rPr>
              <a:t>Seamlessly spins up Backend, Frontend, and PostgreSQL database.</a:t>
            </a:r>
          </a:p>
          <a:p>
            <a:pPr>
              <a:spcAft>
                <a:spcPts val="1600"/>
              </a:spcAft>
            </a:pPr>
            <a:r>
              <a:rPr b="1" sz="1300">
                <a:solidFill>
                  <a:srgbClr val="38BDF8"/>
                </a:solidFill>
              </a:rPr>
              <a:t>🐳 Environment Isolation: </a:t>
            </a:r>
            <a:r>
              <a:rPr sz="1300">
                <a:solidFill>
                  <a:srgbClr val="94A3B8"/>
                </a:solidFill>
              </a:rPr>
              <a:t>Configured via `.env` files for seamless dev, staging, and production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Calibri"/>
              </a:defRPr>
            </a:pPr>
            <a:r>
              <a:t>Automated Quality Assurance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300">
                <a:solidFill>
                  <a:srgbClr val="10B981"/>
                </a:solidFill>
              </a:rPr>
              <a:t>🧪 Pytest Test Suite: </a:t>
            </a:r>
            <a:r>
              <a:rPr sz="1300">
                <a:solidFill>
                  <a:srgbClr val="94A3B8"/>
                </a:solidFill>
              </a:rPr>
              <a:t>Comprehensive unit &amp; integration tests (`test_sql_app.db`).</a:t>
            </a:r>
          </a:p>
          <a:p>
            <a:pPr>
              <a:spcAft>
                <a:spcPts val="1600"/>
              </a:spcAft>
            </a:pPr>
            <a:r>
              <a:rPr b="1" sz="1300">
                <a:solidFill>
                  <a:srgbClr val="10B981"/>
                </a:solidFill>
              </a:rPr>
              <a:t>🧪 API Endpoint Testing: </a:t>
            </a:r>
            <a:r>
              <a:rPr sz="1300">
                <a:solidFill>
                  <a:srgbClr val="94A3B8"/>
                </a:solidFill>
              </a:rPr>
              <a:t>Validates auth endpoints, prediction schemas, and alert queries.</a:t>
            </a:r>
          </a:p>
          <a:p>
            <a:pPr>
              <a:spcAft>
                <a:spcPts val="1600"/>
              </a:spcAft>
            </a:pPr>
            <a:r>
              <a:rPr b="1" sz="1300">
                <a:solidFill>
                  <a:srgbClr val="10B981"/>
                </a:solidFill>
              </a:rPr>
              <a:t>🧪 Schema Validation: </a:t>
            </a:r>
            <a:r>
              <a:rPr sz="1300">
                <a:solidFill>
                  <a:srgbClr val="94A3B8"/>
                </a:solidFill>
              </a:rPr>
              <a:t>Strict Pydantic v2 data validation prevents malformed payload errors.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FUTURE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Technical Limitations &amp; Multi-Phase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Calibri"/>
              </a:defRPr>
            </a:pPr>
            <a:r>
              <a:t>Technical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F59E0B"/>
                </a:solidFill>
              </a:rPr>
              <a:t>⚠️ Supervised ML Horizon: </a:t>
            </a:r>
            <a:r>
              <a:rPr sz="1300">
                <a:solidFill>
                  <a:srgbClr val="94A3B8"/>
                </a:solidFill>
              </a:rPr>
              <a:t>Supervised models target known attack patterns; novel zero-day exploits require anomaly detection.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F59E0B"/>
                </a:solidFill>
              </a:rPr>
              <a:t>⚠️ Benchmark Dataset Scope: </a:t>
            </a:r>
            <a:r>
              <a:rPr sz="1300">
                <a:solidFill>
                  <a:srgbClr val="94A3B8"/>
                </a:solidFill>
              </a:rPr>
              <a:t>NSL-KDD provides solid baseline features, but real enterprise deployments require continuous online retraining.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F59E0B"/>
                </a:solidFill>
              </a:rPr>
              <a:t>⚠️ Packet Privileges: </a:t>
            </a:r>
            <a:r>
              <a:rPr sz="1300">
                <a:solidFill>
                  <a:srgbClr val="94A3B8"/>
                </a:solidFill>
              </a:rPr>
              <a:t>Raw PCAP packet capture requires elevated OS admin/root rights.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Calibri"/>
              </a:defRPr>
            </a:pPr>
            <a:r>
              <a:t>Future Product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10B981"/>
                </a:solidFill>
              </a:rPr>
              <a:t>🚀 Phase 4 - Zero-Day Detection: </a:t>
            </a:r>
            <a:r>
              <a:rPr sz="1300">
                <a:solidFill>
                  <a:srgbClr val="94A3B8"/>
                </a:solidFill>
              </a:rPr>
              <a:t>Unsupervised Autoencoders for anomaly detection.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0B981"/>
                </a:solidFill>
              </a:rPr>
              <a:t>🚀 Phase 5 - Temporal Analysis: </a:t>
            </a:r>
            <a:r>
              <a:rPr sz="1300">
                <a:solidFill>
                  <a:srgbClr val="94A3B8"/>
                </a:solidFill>
              </a:rPr>
              <a:t>LSTM / GRU Neural Networks for flow sequence modeling.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0B981"/>
                </a:solidFill>
              </a:rPr>
              <a:t>🚀 Phase 6 - SIEM Integration: </a:t>
            </a:r>
            <a:r>
              <a:rPr sz="1300">
                <a:solidFill>
                  <a:srgbClr val="94A3B8"/>
                </a:solidFill>
              </a:rPr>
              <a:t>Syslog &amp; CEF log forwarding to Splunk / Elastic.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10B981"/>
                </a:solidFill>
              </a:rPr>
              <a:t>🚀 Phase 7 - Automated Defense: </a:t>
            </a:r>
            <a:r>
              <a:rPr sz="1300">
                <a:solidFill>
                  <a:srgbClr val="94A3B8"/>
                </a:solidFill>
              </a:rPr>
              <a:t>Automated API hooks for firewall IP blocking.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AI-BASED NETWORK INTRUSION DETECTION SYSTEM</a:t>
            </a:r>
          </a:p>
          <a:p>
            <a:pPr>
              <a:spcBef>
                <a:spcPts val="1500"/>
              </a:spcBef>
              <a:defRPr sz="2000">
                <a:solidFill>
                  <a:srgbClr val="38BDF8"/>
                </a:solidFill>
              </a:defRPr>
            </a:pPr>
            <a:r>
              <a:t>Empowering Enterprise Security Operations with High-Precision Machine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108960"/>
            <a:ext cx="9875520" cy="30175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324612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Calibri"/>
              </a:defRPr>
            </a:pPr>
            <a:r>
              <a:t>Summary of Project Accomplishments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749039"/>
            <a:ext cx="9509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>
                <a:solidFill>
                  <a:srgbClr val="10B981"/>
                </a:solidFill>
              </a:rPr>
              <a:t>✔ High-Precision Classification: 96.68% attack precision minimizes SOC triage overhead.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0B981"/>
                </a:solidFill>
              </a:rPr>
              <a:t>✔ Real-Time WebSocket Stream: Low-latency continuous threat scoring and alert scoring.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10B981"/>
                </a:solidFill>
              </a:rPr>
              <a:t>✔ Full Stack Architecture: Production-ready React 18 frontend &amp; FastAPI backend with Docker support.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38BDF8"/>
                </a:solidFill>
              </a:rPr>
              <a:t>❓ Thank You for your time!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